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4" Type="http://schemas.openxmlformats.org/officeDocument/2006/relationships/viewProps" Target="viewProps.xml" /><Relationship Id="rId13" Type="http://schemas.openxmlformats.org/officeDocument/2006/relationships/presProps" Target="presProps.xml" /><Relationship Id="rId1" Type="http://schemas.openxmlformats.org/officeDocument/2006/relationships/slideMaster" Target="slideMasters/slideMaster1.xml" /><Relationship Id="rId16" Type="http://schemas.openxmlformats.org/officeDocument/2006/relationships/tableStyles" Target="tableStyles.xml" /><Relationship Id="rId1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Rapport – Syft, Grype et SBOM : chaîne de confiance et vulnérabilités</a:t>
            </a:r>
          </a:p>
        </p:txBody>
      </p:sp>
      <p:sp>
        <p:nvSpPr>
          <p:cNvPr id="3" name="Content Placeholder 2"/>
          <p:cNvSpPr>
            <a:spLocks noGrp="1"/>
          </p:cNvSpPr>
          <p:nvPr>
            <p:ph idx="1"/>
          </p:nvPr>
        </p:nvSpPr>
        <p:spPr/>
        <p:txBody>
          <a:bodyPr/>
          <a:lstStyle/>
          <a:p>
            <a:pPr lvl="0" indent="0" marL="0">
              <a:buNone/>
            </a:pPr>
            <a:r>
              <a:rPr b="1"/>
              <a:t>Projet :</a:t>
            </a:r>
            <a:r>
              <a:rPr/>
              <a:t> Sysft-Grype-CICD – Security M2</a:t>
            </a:r>
            <a:br/>
            <a:r>
              <a:rPr b="1"/>
              <a:t>Contexte :</a:t>
            </a:r>
            <a:r>
              <a:rPr/>
              <a:t> UADB M2 – Sécurité logicielle</a:t>
            </a:r>
            <a:br/>
            <a:r>
              <a:rPr b="1"/>
              <a:t>Date :</a:t>
            </a:r>
            <a:r>
              <a:rPr/>
              <a:t>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 Contexte et objectifs</a:t>
            </a:r>
          </a:p>
          <a:p>
            <a:pPr lvl="0" indent="0" marL="0">
              <a:spcBef>
                <a:spcPts val="3000"/>
              </a:spcBef>
              <a:buNone/>
            </a:pPr>
            <a:r>
              <a:rPr b="1"/>
              <a:t>1.1 Contexte</a:t>
            </a:r>
          </a:p>
          <a:p>
            <a:pPr lvl="0" indent="0" marL="0">
              <a:buNone/>
            </a:pPr>
            <a:r>
              <a:rPr/>
              <a:t>La traçabilité des dépendances logicielles et la détection des vulnérabilités (CVE) sont des exigences croissantes (NIS2, ANSSI, EO 14028). Un </a:t>
            </a:r>
            <a:r>
              <a:rPr b="1"/>
              <a:t>SBOM</a:t>
            </a:r>
            <a:r>
              <a:rPr/>
              <a:t> (Software Bill of Materials) constitue l’inventaire reproductible des composants d’un projet ou d’une image ; il sert de base à l’analyse de vulnérabilités et à la conformité.</a:t>
            </a:r>
          </a:p>
          <a:p>
            <a:pPr lvl="0" indent="0" marL="0">
              <a:spcBef>
                <a:spcPts val="3000"/>
              </a:spcBef>
              <a:buNone/>
            </a:pPr>
            <a:r>
              <a:rPr b="1"/>
              <a:t>1.2 Objectifs du projet</a:t>
            </a:r>
          </a:p>
          <a:p>
            <a:pPr lvl="0"/>
            <a:r>
              <a:rPr/>
              <a:t>Mettre en œuvre </a:t>
            </a:r>
            <a:r>
              <a:rPr b="1"/>
              <a:t>Syft</a:t>
            </a:r>
            <a:r>
              <a:rPr/>
              <a:t> (Anchore) pour générer des SBOM à partir d’un répertoire ou d’une image Docker.</a:t>
            </a:r>
          </a:p>
          <a:p>
            <a:pPr lvl="0"/>
            <a:r>
              <a:rPr/>
              <a:t>Utiliser </a:t>
            </a:r>
            <a:r>
              <a:rPr b="1"/>
              <a:t>Grype</a:t>
            </a:r>
            <a:r>
              <a:rPr/>
              <a:t> pour scanner les vulnérabilités à partir du SBOM.</a:t>
            </a:r>
          </a:p>
          <a:p>
            <a:pPr lvl="0"/>
            <a:r>
              <a:rPr/>
              <a:t>Automatiser le pipeline (SBOM + Grype + rapports) en local et en </a:t>
            </a:r>
            <a:r>
              <a:rPr b="1"/>
              <a:t>CI/CD</a:t>
            </a:r>
            <a:r>
              <a:rPr/>
              <a:t> (GitHub Actions).</a:t>
            </a:r>
          </a:p>
          <a:p>
            <a:pPr lvl="0"/>
            <a:r>
              <a:rPr/>
              <a:t>Produire des rapports exploitables (JSON, HTML, présentables) pour une démonstration ou un audit.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2. Outils utilisés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193800"/>
                <a:gridCol w="1016000"/>
                <a:gridCol w="2895600"/>
              </a:tblGrid>
              <a:tr h="0">
                <a:tc>
                  <a:txBody>
                    <a:bodyPr/>
                    <a:lstStyle/>
                    <a:p>
                      <a:pPr lvl="0" indent="0" marL="0">
                        <a:buNone/>
                      </a:pPr>
                      <a:r>
                        <a:rPr/>
                        <a:t>Outil</a:t>
                      </a:r>
                    </a:p>
                  </a:txBody>
                  <a:tcPr/>
                </a:tc>
                <a:tc>
                  <a:txBody>
                    <a:bodyPr/>
                    <a:lstStyle/>
                    <a:p>
                      <a:pPr lvl="0" indent="0" marL="0">
                        <a:buNone/>
                      </a:pPr>
                      <a:r>
                        <a:rPr/>
                        <a:t>Rôle</a:t>
                      </a:r>
                    </a:p>
                  </a:txBody>
                  <a:tcPr/>
                </a:tc>
                <a:tc>
                  <a:txBody>
                    <a:bodyPr/>
                    <a:lstStyle/>
                    <a:p>
                      <a:pPr lvl="0" indent="0" marL="0">
                        <a:buNone/>
                      </a:pPr>
                      <a:r>
                        <a:rPr/>
                        <a:t>Version typique</a:t>
                      </a:r>
                    </a:p>
                  </a:txBody>
                  <a:tcPr/>
                </a:tc>
              </a:tr>
              <a:tr h="0">
                <a:tc>
                  <a:txBody>
                    <a:bodyPr/>
                    <a:lstStyle/>
                    <a:p>
                      <a:pPr lvl="0" indent="0" marL="0">
                        <a:buNone/>
                      </a:pPr>
                      <a:r>
                        <a:rPr b="1"/>
                        <a:t>Syft</a:t>
                      </a:r>
                    </a:p>
                  </a:txBody>
                </a:tc>
                <a:tc>
                  <a:txBody>
                    <a:bodyPr/>
                    <a:lstStyle/>
                    <a:p>
                      <a:pPr lvl="0" indent="0" marL="0">
                        <a:buNone/>
                      </a:pPr>
                      <a:r>
                        <a:rPr/>
                        <a:t>Génération de SBOM (CycloneDX, SPDX, Syft JSON) à partir de répertoires ou d’images</a:t>
                      </a:r>
                    </a:p>
                  </a:txBody>
                </a:tc>
                <a:tc>
                  <a:txBody>
                    <a:bodyPr/>
                    <a:lstStyle/>
                    <a:p>
                      <a:pPr lvl="0" indent="0" marL="0">
                        <a:buNone/>
                      </a:pPr>
                      <a:r>
                        <a:rPr/>
                        <a:t>1.42.x</a:t>
                      </a:r>
                    </a:p>
                  </a:txBody>
                </a:tc>
              </a:tr>
              <a:tr h="0">
                <a:tc>
                  <a:txBody>
                    <a:bodyPr/>
                    <a:lstStyle/>
                    <a:p>
                      <a:pPr lvl="0" indent="0" marL="0">
                        <a:buNone/>
                      </a:pPr>
                      <a:r>
                        <a:rPr b="1"/>
                        <a:t>Grype</a:t>
                      </a:r>
                    </a:p>
                  </a:txBody>
                </a:tc>
                <a:tc>
                  <a:txBody>
                    <a:bodyPr/>
                    <a:lstStyle/>
                    <a:p>
                      <a:pPr lvl="0" indent="0" marL="0">
                        <a:buNone/>
                      </a:pPr>
                      <a:r>
                        <a:rPr/>
                        <a:t>Scan des vulnérabilités à partir d’un SBOM ou d’une cible directe ; base de vulnérabilités (NVD, GitHub Advisory, Alpine SecDB, etc.)</a:t>
                      </a:r>
                    </a:p>
                  </a:txBody>
                </a:tc>
                <a:tc>
                  <a:txBody>
                    <a:bodyPr/>
                    <a:lstStyle/>
                    <a:p>
                      <a:pPr lvl="0" indent="0" marL="0">
                        <a:buNone/>
                      </a:pPr>
                      <a:r>
                        <a:rPr/>
                        <a:t>0.109.x</a:t>
                      </a:r>
                    </a:p>
                  </a:txBody>
                </a:tc>
              </a:tr>
              <a:tr h="0">
                <a:tc>
                  <a:txBody>
                    <a:bodyPr/>
                    <a:lstStyle/>
                    <a:p>
                      <a:pPr lvl="0" indent="0" marL="0">
                        <a:buNone/>
                      </a:pPr>
                      <a:r>
                        <a:rPr b="1"/>
                        <a:t>GitHub Actions</a:t>
                      </a:r>
                    </a:p>
                  </a:txBody>
                </a:tc>
                <a:tc>
                  <a:txBody>
                    <a:bodyPr/>
                    <a:lstStyle/>
                    <a:p>
                      <a:pPr lvl="0" indent="0" marL="0">
                        <a:buNone/>
                      </a:pPr>
                      <a:r>
                        <a:rPr/>
                        <a:t>Exécution du pipeline (Syft + Grype) à chaque push/PR ; artefacts SBOM et rapports</a:t>
                      </a:r>
                    </a:p>
                  </a:txBody>
                </a:tc>
                <a:tc>
                  <a:txBody>
                    <a:bodyPr/>
                    <a:lstStyle/>
                    <a:p>
                      <a:pPr lvl="0" indent="0" marL="0">
                        <a:buNone/>
                      </a:pPr>
                      <a:r>
                        <a:rPr/>
                        <a:t>—</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Cible analysée : application exemple</a:t>
            </a:r>
          </a:p>
          <a:p>
            <a:pPr lvl="0"/>
            <a:r>
              <a:rPr b="1"/>
              <a:t>Répertoire :</a:t>
            </a:r>
            <a:r>
              <a:rPr/>
              <a:t> </a:t>
            </a:r>
            <a:r>
              <a:rPr>
                <a:latin typeface="Courier"/>
              </a:rPr>
              <a:t>app-exemple</a:t>
            </a:r>
            <a:r>
              <a:rPr/>
              <a:t> – application Node.js (Express, Lodash, Axios).</a:t>
            </a:r>
          </a:p>
          <a:p>
            <a:pPr lvl="0"/>
            <a:r>
              <a:rPr b="1"/>
              <a:t>Image Docker :</a:t>
            </a:r>
            <a:r>
              <a:rPr/>
              <a:t> construite à partir de </a:t>
            </a:r>
            <a:r>
              <a:rPr>
                <a:latin typeface="Courier"/>
              </a:rPr>
              <a:t>app-exemple/Dockerfile</a:t>
            </a:r>
            <a:r>
              <a:rPr/>
              <a:t> (base </a:t>
            </a:r>
            <a:r>
              <a:rPr>
                <a:latin typeface="Courier"/>
              </a:rPr>
              <a:t>node:20-alpine</a:t>
            </a:r>
            <a:r>
              <a:rPr/>
              <a:t>), image nommée </a:t>
            </a:r>
            <a:r>
              <a:rPr>
                <a:latin typeface="Courier"/>
              </a:rPr>
              <a:t>app-exemple-sbom:1.0</a:t>
            </a:r>
            <a:r>
              <a:rPr/>
              <a:t>.</a:t>
            </a:r>
          </a:p>
          <a:p>
            <a:pPr lvl="0"/>
            <a:r>
              <a:rPr/>
              <a:t>Pour les besoins de la démo, des </a:t>
            </a:r>
            <a:r>
              <a:rPr b="1"/>
              <a:t>versions volontairement vulnérables</a:t>
            </a:r>
            <a:r>
              <a:rPr/>
              <a:t> ont été utilisées (ex. lodash 4.17.20) afin d’obtenir des résultats dans les rapports Grype.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Méthodologie et pipeline</a:t>
            </a:r>
          </a:p>
          <a:p>
            <a:pPr lvl="0" indent="0" marL="0">
              <a:spcBef>
                <a:spcPts val="3000"/>
              </a:spcBef>
              <a:buNone/>
            </a:pPr>
            <a:r>
              <a:rPr b="1"/>
              <a:t>4.1 Chaîne globale</a:t>
            </a:r>
          </a:p>
          <a:p>
            <a:pPr lvl="0" indent="-342900" marL="342900">
              <a:buAutoNum type="arabicPeriod"/>
            </a:pPr>
            <a:r>
              <a:rPr b="1"/>
              <a:t>Syft</a:t>
            </a:r>
            <a:r>
              <a:rPr/>
              <a:t> : scan de la cible (répertoire ou image) → génération d’un SBOM au format CycloneDX (JSON).</a:t>
            </a:r>
          </a:p>
          <a:p>
            <a:pPr lvl="0" indent="-342900" marL="342900">
              <a:buAutoNum type="arabicPeriod"/>
            </a:pPr>
            <a:r>
              <a:rPr b="1"/>
              <a:t>Grype</a:t>
            </a:r>
            <a:r>
              <a:rPr/>
              <a:t> : lecture du SBOM → comparaison avec la base de vulnérabilités → rapport (table, JSON).</a:t>
            </a:r>
          </a:p>
          <a:p>
            <a:pPr lvl="0" indent="-342900" marL="342900">
              <a:buAutoNum type="arabicPeriod"/>
            </a:pPr>
            <a:r>
              <a:rPr b="1"/>
              <a:t>Rapport HTML</a:t>
            </a:r>
            <a:r>
              <a:rPr/>
              <a:t> : génération d’un fichier </a:t>
            </a:r>
            <a:r>
              <a:rPr>
                <a:latin typeface="Courier"/>
              </a:rPr>
              <a:t>rapports/vulns-report.html</a:t>
            </a:r>
            <a:r>
              <a:rPr/>
              <a:t> à partir du JSON Grype (tableau par sévérité, liens vers les avis).</a:t>
            </a:r>
          </a:p>
          <a:p>
            <a:pPr lvl="0" indent="-342900" marL="342900">
              <a:buAutoNum type="arabicPeriod"/>
            </a:pPr>
            <a:r>
              <a:rPr b="1"/>
              <a:t>CI/CD</a:t>
            </a:r>
            <a:r>
              <a:rPr/>
              <a:t> : le workflow </a:t>
            </a:r>
            <a:r>
              <a:rPr>
                <a:latin typeface="Courier"/>
              </a:rPr>
              <a:t>.github/workflows/sbom-grype.yml</a:t>
            </a:r>
            <a:r>
              <a:rPr/>
              <a:t> exécute Syft puis Grype à chaque push/PR sur </a:t>
            </a:r>
            <a:r>
              <a:rPr>
                <a:latin typeface="Courier"/>
              </a:rPr>
              <a:t>main</a:t>
            </a:r>
            <a:r>
              <a:rPr/>
              <a:t>, et publie les artefacts (SBOM, rapport vulns, rapport HTML).</a:t>
            </a:r>
          </a:p>
          <a:p>
            <a:pPr lvl="0" indent="0" marL="0">
              <a:spcBef>
                <a:spcPts val="3000"/>
              </a:spcBef>
              <a:buNone/>
            </a:pPr>
            <a:r>
              <a:rPr b="1"/>
              <a:t>4.2 Commandes principales (local)</a:t>
            </a:r>
          </a:p>
          <a:p>
            <a:pPr lvl="0"/>
            <a:r>
              <a:rPr/>
              <a:t>Génération SBOM répertoire :</a:t>
            </a:r>
            <a:br/>
            <a:r>
              <a:rPr>
                <a:latin typeface="Courier"/>
              </a:rPr>
              <a:t>syft app-exemple -o cyclonedx-json=rapports/sbom-cyclonedx.json</a:t>
            </a:r>
          </a:p>
          <a:p>
            <a:pPr lvl="0"/>
            <a:r>
              <a:rPr/>
              <a:t>Scan des vulnérabilités :</a:t>
            </a:r>
            <a:br/>
            <a:r>
              <a:rPr>
                <a:latin typeface="Courier"/>
              </a:rPr>
              <a:t>grype sbom:rapports/sbom-cyclonedx.json -o table</a:t>
            </a:r>
            <a:br/>
            <a:r>
              <a:rPr>
                <a:latin typeface="Courier"/>
              </a:rPr>
              <a:t>grype sbom:rapports/sbom-cyclonedx.json -o json --file rapports/vulns.json</a:t>
            </a:r>
          </a:p>
          <a:p>
            <a:pPr lvl="0"/>
            <a:r>
              <a:rPr/>
              <a:t>Pipeline tout-en-un (script fourni) :</a:t>
            </a:r>
            <a:br/>
            <a:r>
              <a:rPr>
                <a:latin typeface="Courier"/>
              </a:rPr>
              <a:t>.\syft-grype-pipeline.ps1</a:t>
            </a:r>
            <a:br/>
            <a:r>
              <a:rPr>
                <a:latin typeface="Courier"/>
              </a:rPr>
              <a:t>.\generer-rapport-vulns-html.ps1</a:t>
            </a:r>
          </a:p>
          <a:p>
            <a:pPr lvl="0" indent="0" marL="0">
              <a:spcBef>
                <a:spcPts val="3000"/>
              </a:spcBef>
              <a:buNone/>
            </a:pPr>
            <a:r>
              <a:rPr b="1"/>
              <a:t>4.3 Configuration Syft</a:t>
            </a:r>
          </a:p>
          <a:p>
            <a:pPr lvl="0" indent="0" marL="0">
              <a:buNone/>
            </a:pPr>
            <a:r>
              <a:rPr/>
              <a:t>Le fichier </a:t>
            </a:r>
            <a:r>
              <a:rPr>
                <a:latin typeface="Courier"/>
              </a:rPr>
              <a:t>.syft.yaml</a:t>
            </a:r>
            <a:r>
              <a:rPr/>
              <a:t> à la racine du projet permet d’exclure des chemins (</a:t>
            </a:r>
            <a:r>
              <a:rPr>
                <a:latin typeface="Courier"/>
              </a:rPr>
              <a:t>.git</a:t>
            </a:r>
            <a:r>
              <a:rPr/>
              <a:t>, </a:t>
            </a:r>
            <a:r>
              <a:rPr>
                <a:latin typeface="Courier"/>
              </a:rPr>
              <a:t>dist</a:t>
            </a:r>
            <a:r>
              <a:rPr/>
              <a:t>, </a:t>
            </a:r>
            <a:r>
              <a:rPr>
                <a:latin typeface="Courier"/>
              </a:rPr>
              <a:t>build</a:t>
            </a:r>
            <a:r>
              <a:rPr/>
              <a:t>, etc.) et de contrôler le scope des scans (ex. </a:t>
            </a:r>
            <a:r>
              <a:rPr>
                <a:latin typeface="Courier"/>
              </a:rPr>
              <a:t>squashed</a:t>
            </a:r>
            <a:r>
              <a:rPr/>
              <a:t> pour les images), afin d’obtenir des SBOM plus pertinents et plus rapides.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5. Résultats : SBOM et vulnérabilités</a:t>
            </a:r>
          </a:p>
          <a:p>
            <a:pPr lvl="0" indent="0" marL="0">
              <a:spcBef>
                <a:spcPts val="3000"/>
              </a:spcBef>
              <a:buNone/>
            </a:pPr>
            <a:r>
              <a:rPr b="1"/>
              <a:t>5.1 Inventaire (SBOM)</a:t>
            </a:r>
          </a:p>
          <a:p>
            <a:pPr lvl="0"/>
            <a:r>
              <a:rPr b="1"/>
              <a:t>Répertoire </a:t>
            </a:r>
            <a:r>
              <a:rPr b="1">
                <a:latin typeface="Courier"/>
              </a:rPr>
              <a:t>app-exemple</a:t>
            </a:r>
            <a:r>
              <a:rPr b="1"/>
              <a:t> :</a:t>
            </a:r>
            <a:r>
              <a:rPr/>
              <a:t> plusieurs dizaines de paquets npm (dépendances directes et transitives), listés dans </a:t>
            </a:r>
            <a:r>
              <a:rPr>
                <a:latin typeface="Courier"/>
              </a:rPr>
              <a:t>rapports/sbom-cyclonedx.json</a:t>
            </a:r>
            <a:r>
              <a:rPr/>
              <a:t> et </a:t>
            </a:r>
            <a:r>
              <a:rPr>
                <a:latin typeface="Courier"/>
              </a:rPr>
              <a:t>rapports/sbom-spdx.json</a:t>
            </a:r>
            <a:r>
              <a:rPr/>
              <a:t>.</a:t>
            </a:r>
          </a:p>
          <a:p>
            <a:pPr lvl="0"/>
            <a:r>
              <a:rPr b="1"/>
              <a:t>Image Docker </a:t>
            </a:r>
            <a:r>
              <a:rPr b="1">
                <a:latin typeface="Courier"/>
              </a:rPr>
              <a:t>app-exemple-sbom:1.0</a:t>
            </a:r>
            <a:r>
              <a:rPr b="1"/>
              <a:t> :</a:t>
            </a:r>
            <a:r>
              <a:rPr/>
              <a:t> paquets de la couche Alpine (apk), runtime Node.js et dépendances npm installées dans l’image.</a:t>
            </a:r>
          </a:p>
          <a:p>
            <a:pPr lvl="0" indent="0" marL="0">
              <a:buNone/>
            </a:pPr>
            <a:r>
              <a:rPr/>
              <a:t>Les formats CycloneDX et SPDX permettent une réutilisation dans d’autres outils (Dependency-Track, conformité, attestations).</a:t>
            </a:r>
          </a:p>
          <a:p>
            <a:pPr lvl="0" indent="0" marL="0">
              <a:spcBef>
                <a:spcPts val="3000"/>
              </a:spcBef>
              <a:buNone/>
            </a:pPr>
            <a:r>
              <a:rPr b="1"/>
              <a:t>5.2 Vulnérabilités détectées (exemple)</a:t>
            </a:r>
          </a:p>
          <a:p>
            <a:pPr lvl="0" indent="0" marL="0">
              <a:buNone/>
            </a:pPr>
            <a:r>
              <a:rPr/>
              <a:t>Sur la cible </a:t>
            </a:r>
            <a:r>
              <a:rPr>
                <a:latin typeface="Courier"/>
              </a:rPr>
              <a:t>app-exemple</a:t>
            </a:r>
            <a:r>
              <a:rPr/>
              <a:t> avec lodash 4.17.20 (version volontairement vulnérable pour la démo), Grype signale notamment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673100"/>
                <a:gridCol w="749300"/>
                <a:gridCol w="1257300"/>
                <a:gridCol w="838200"/>
                <a:gridCol w="1587500"/>
              </a:tblGrid>
              <a:tr h="0">
                <a:tc>
                  <a:txBody>
                    <a:bodyPr/>
                    <a:lstStyle/>
                    <a:p>
                      <a:pPr lvl="0" indent="0" marL="0">
                        <a:buNone/>
                      </a:pPr>
                      <a:r>
                        <a:rPr/>
                        <a:t>Paquet</a:t>
                      </a:r>
                    </a:p>
                  </a:txBody>
                  <a:tcPr/>
                </a:tc>
                <a:tc>
                  <a:txBody>
                    <a:bodyPr/>
                    <a:lstStyle/>
                    <a:p>
                      <a:pPr lvl="0" indent="0" marL="0">
                        <a:buNone/>
                      </a:pPr>
                      <a:r>
                        <a:rPr/>
                        <a:t>Version</a:t>
                      </a:r>
                    </a:p>
                  </a:txBody>
                  <a:tcPr/>
                </a:tc>
                <a:tc>
                  <a:txBody>
                    <a:bodyPr/>
                    <a:lstStyle/>
                    <a:p>
                      <a:pPr lvl="0" indent="0" marL="0">
                        <a:buNone/>
                      </a:pPr>
                      <a:r>
                        <a:rPr/>
                        <a:t>Vulnérabilité</a:t>
                      </a:r>
                    </a:p>
                  </a:txBody>
                  <a:tcPr/>
                </a:tc>
                <a:tc>
                  <a:txBody>
                    <a:bodyPr/>
                    <a:lstStyle/>
                    <a:p>
                      <a:pPr lvl="0" indent="0" marL="0">
                        <a:buNone/>
                      </a:pPr>
                      <a:r>
                        <a:rPr/>
                        <a:t>Sévérité</a:t>
                      </a:r>
                    </a:p>
                  </a:txBody>
                  <a:tcPr/>
                </a:tc>
                <a:tc>
                  <a:txBody>
                    <a:bodyPr/>
                    <a:lstStyle/>
                    <a:p>
                      <a:pPr lvl="0" indent="0" marL="0">
                        <a:buNone/>
                      </a:pPr>
                      <a:r>
                        <a:rPr/>
                        <a:t>Description type</a:t>
                      </a:r>
                    </a:p>
                  </a:txBody>
                  <a:tcPr/>
                </a:tc>
              </a:tr>
              <a:tr h="0">
                <a:tc>
                  <a:txBody>
                    <a:bodyPr/>
                    <a:lstStyle/>
                    <a:p>
                      <a:pPr lvl="0" indent="0" marL="0">
                        <a:buNone/>
                      </a:pPr>
                      <a:r>
                        <a:rPr/>
                        <a:t>lodash</a:t>
                      </a:r>
                    </a:p>
                  </a:txBody>
                </a:tc>
                <a:tc>
                  <a:txBody>
                    <a:bodyPr/>
                    <a:lstStyle/>
                    <a:p>
                      <a:pPr lvl="0" indent="0" marL="0">
                        <a:buNone/>
                      </a:pPr>
                      <a:r>
                        <a:rPr/>
                        <a:t>4.17.20</a:t>
                      </a:r>
                    </a:p>
                  </a:txBody>
                </a:tc>
                <a:tc>
                  <a:txBody>
                    <a:bodyPr/>
                    <a:lstStyle/>
                    <a:p>
                      <a:pPr lvl="0" indent="0" marL="0">
                        <a:buNone/>
                      </a:pPr>
                      <a:r>
                        <a:rPr/>
                        <a:t>GHSA-35jh-r3h4-6jhm</a:t>
                      </a:r>
                    </a:p>
                  </a:txBody>
                </a:tc>
                <a:tc>
                  <a:txBody>
                    <a:bodyPr/>
                    <a:lstStyle/>
                    <a:p>
                      <a:pPr lvl="0" indent="0" marL="0">
                        <a:buNone/>
                      </a:pPr>
                      <a:r>
                        <a:rPr/>
                        <a:t>High</a:t>
                      </a:r>
                    </a:p>
                  </a:txBody>
                </a:tc>
                <a:tc>
                  <a:txBody>
                    <a:bodyPr/>
                    <a:lstStyle/>
                    <a:p>
                      <a:pPr lvl="0" indent="0" marL="0">
                        <a:buNone/>
                      </a:pPr>
                      <a:r>
                        <a:rPr/>
                        <a:t>Command Injection</a:t>
                      </a:r>
                    </a:p>
                  </a:txBody>
                </a:tc>
              </a:tr>
              <a:tr h="0">
                <a:tc>
                  <a:txBody>
                    <a:bodyPr/>
                    <a:lstStyle/>
                    <a:p>
                      <a:pPr lvl="0" indent="0" marL="0">
                        <a:buNone/>
                      </a:pPr>
                      <a:r>
                        <a:rPr/>
                        <a:t>lodash</a:t>
                      </a:r>
                    </a:p>
                  </a:txBody>
                </a:tc>
                <a:tc>
                  <a:txBody>
                    <a:bodyPr/>
                    <a:lstStyle/>
                    <a:p>
                      <a:pPr lvl="0" indent="0" marL="0">
                        <a:buNone/>
                      </a:pPr>
                      <a:r>
                        <a:rPr/>
                        <a:t>4.17.20</a:t>
                      </a:r>
                    </a:p>
                  </a:txBody>
                </a:tc>
                <a:tc>
                  <a:txBody>
                    <a:bodyPr/>
                    <a:lstStyle/>
                    <a:p>
                      <a:pPr lvl="0" indent="0" marL="0">
                        <a:buNone/>
                      </a:pPr>
                      <a:r>
                        <a:rPr/>
                        <a:t>GHSA-29mw-wpgm-hmr9</a:t>
                      </a:r>
                    </a:p>
                  </a:txBody>
                </a:tc>
                <a:tc>
                  <a:txBody>
                    <a:bodyPr/>
                    <a:lstStyle/>
                    <a:p>
                      <a:pPr lvl="0" indent="0" marL="0">
                        <a:buNone/>
                      </a:pPr>
                      <a:r>
                        <a:rPr/>
                        <a:t>Medium</a:t>
                      </a:r>
                    </a:p>
                  </a:txBody>
                </a:tc>
                <a:tc>
                  <a:txBody>
                    <a:bodyPr/>
                    <a:lstStyle/>
                    <a:p>
                      <a:pPr lvl="0" indent="0" marL="0">
                        <a:buNone/>
                      </a:pPr>
                      <a:r>
                        <a:rPr/>
                        <a:t>ReDoS (Regular Expression DoS)</a:t>
                      </a:r>
                    </a:p>
                  </a:txBody>
                </a:tc>
              </a:tr>
              <a:tr h="0">
                <a:tc>
                  <a:txBody>
                    <a:bodyPr/>
                    <a:lstStyle/>
                    <a:p>
                      <a:pPr lvl="0" indent="0" marL="0">
                        <a:buNone/>
                      </a:pPr>
                      <a:r>
                        <a:rPr/>
                        <a:t>lodash</a:t>
                      </a:r>
                    </a:p>
                  </a:txBody>
                </a:tc>
                <a:tc>
                  <a:txBody>
                    <a:bodyPr/>
                    <a:lstStyle/>
                    <a:p>
                      <a:pPr lvl="0" indent="0" marL="0">
                        <a:buNone/>
                      </a:pPr>
                      <a:r>
                        <a:rPr/>
                        <a:t>4.17.20</a:t>
                      </a:r>
                    </a:p>
                  </a:txBody>
                </a:tc>
                <a:tc>
                  <a:txBody>
                    <a:bodyPr/>
                    <a:lstStyle/>
                    <a:p>
                      <a:pPr lvl="0" indent="0" marL="0">
                        <a:buNone/>
                      </a:pPr>
                      <a:r>
                        <a:rPr/>
                        <a:t>GHSA-xxjr-mmjv-4gpg</a:t>
                      </a:r>
                    </a:p>
                  </a:txBody>
                </a:tc>
                <a:tc>
                  <a:txBody>
                    <a:bodyPr/>
                    <a:lstStyle/>
                    <a:p>
                      <a:pPr lvl="0" indent="0" marL="0">
                        <a:buNone/>
                      </a:pPr>
                      <a:r>
                        <a:rPr/>
                        <a:t>Medium</a:t>
                      </a:r>
                    </a:p>
                  </a:txBody>
                </a:tc>
                <a:tc>
                  <a:txBody>
                    <a:bodyPr/>
                    <a:lstStyle/>
                    <a:p>
                      <a:pPr lvl="0" indent="0" marL="0">
                        <a:buNone/>
                      </a:pPr>
                      <a:r>
                        <a:rPr/>
                        <a:t>Prototype Pollution (</a:t>
                      </a:r>
                      <a:r>
                        <a:rPr>
                          <a:latin typeface="Courier"/>
                        </a:rPr>
                        <a:t>_.unset</a:t>
                      </a:r>
                      <a:r>
                        <a:rPr/>
                        <a:t>, </a:t>
                      </a:r>
                      <a:r>
                        <a:rPr>
                          <a:latin typeface="Courier"/>
                        </a:rPr>
                        <a:t>_.omit</a:t>
                      </a:r>
                      <a:r>
                        <a:rPr/>
                        <a:t>)</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Les identifiants GHSA sont cliquables dans le rapport HTML et renvoient vers les avis GitHub (ex. CVE-2021-23337, version corrigée : lodash 4.17.21).</a:t>
            </a:r>
          </a:p>
          <a:p>
            <a:pPr lvl="0" indent="0" marL="0">
              <a:spcBef>
                <a:spcPts val="3000"/>
              </a:spcBef>
              <a:buNone/>
            </a:pPr>
            <a:r>
              <a:rPr b="1"/>
              <a:t>5.3 Source des données Grype</a:t>
            </a:r>
          </a:p>
          <a:p>
            <a:pPr lvl="0" indent="0" marL="0">
              <a:buNone/>
            </a:pPr>
            <a:r>
              <a:rPr/>
              <a:t>Grype s’appuie sur une base de vulnérabilités (téléchargée et mise en cache localement) alimentée par NVD, GitHub Advisory Database, Alpine SecDB, etc. La commande </a:t>
            </a:r>
            <a:r>
              <a:rPr>
                <a:latin typeface="Courier"/>
              </a:rPr>
              <a:t>grype db status</a:t>
            </a:r>
            <a:r>
              <a:rPr/>
              <a:t> affiche la base utilisée ; </a:t>
            </a:r>
            <a:r>
              <a:rPr>
                <a:latin typeface="Courier"/>
              </a:rPr>
              <a:t>grype db update</a:t>
            </a:r>
            <a:r>
              <a:rPr/>
              <a:t> met à jour cette base.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CI/CD (GitHub Actions)</a:t>
            </a:r>
          </a:p>
          <a:p>
            <a:pPr lvl="0"/>
            <a:r>
              <a:rPr b="1"/>
              <a:t>Workflow :</a:t>
            </a:r>
            <a:r>
              <a:rPr/>
              <a:t> </a:t>
            </a:r>
            <a:r>
              <a:rPr>
                <a:latin typeface="Courier"/>
              </a:rPr>
              <a:t>.github/workflows/sbom-grype.yml</a:t>
            </a:r>
          </a:p>
          <a:p>
            <a:pPr lvl="0"/>
            <a:r>
              <a:rPr b="1"/>
              <a:t>Déclenchement :</a:t>
            </a:r>
            <a:r>
              <a:rPr/>
              <a:t> push et pull_request sur la branche </a:t>
            </a:r>
            <a:r>
              <a:rPr>
                <a:latin typeface="Courier"/>
              </a:rPr>
              <a:t>main</a:t>
            </a:r>
          </a:p>
          <a:p>
            <a:pPr lvl="0"/>
            <a:r>
              <a:rPr b="1"/>
              <a:t>Étapes :</a:t>
            </a:r>
            <a:r>
              <a:rPr/>
              <a:t> installation de Syft et Grype, génération du SBOM du répertoire </a:t>
            </a:r>
            <a:r>
              <a:rPr>
                <a:latin typeface="Courier"/>
              </a:rPr>
              <a:t>app-exemple</a:t>
            </a:r>
            <a:r>
              <a:rPr/>
              <a:t>, exécution de Grype (table + JSON), génération du rapport HTML, upload des artefacts (SBOM CycloneDX, rapport vulns, rapport HTML).</a:t>
            </a:r>
          </a:p>
          <a:p>
            <a:pPr lvl="0"/>
            <a:r>
              <a:rPr b="1"/>
              <a:t>Option :</a:t>
            </a:r>
            <a:r>
              <a:rPr/>
              <a:t> une step commentée permet de faire échouer le job en cas de vulnérabilité de sévérité « critical » (</a:t>
            </a:r>
            <a:r>
              <a:rPr>
                <a:latin typeface="Courier"/>
              </a:rPr>
              <a:t>--fail-on critical</a:t>
            </a:r>
            <a:r>
              <a:rPr/>
              <a: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Aller plus loin (références du projet)</a:t>
            </a:r>
          </a:p>
          <a:p>
            <a:pPr lvl="0"/>
            <a:r>
              <a:rPr b="1"/>
              <a:t>Dependency-Track :</a:t>
            </a:r>
            <a:r>
              <a:rPr/>
              <a:t> import du SBOM CycloneDX pour tableau de bord et politiques (voir </a:t>
            </a:r>
            <a:r>
              <a:rPr>
                <a:latin typeface="Courier"/>
              </a:rPr>
              <a:t>docs/SYFT_CAS_COMPLET.md</a:t>
            </a:r>
            <a:r>
              <a:rPr/>
              <a:t>).</a:t>
            </a:r>
          </a:p>
          <a:p>
            <a:pPr lvl="0"/>
            <a:r>
              <a:rPr b="1"/>
              <a:t>Attestations :</a:t>
            </a:r>
            <a:r>
              <a:rPr/>
              <a:t> signature du SBOM avec Syft + Cosign pour la chaîne de confiance.</a:t>
            </a:r>
          </a:p>
          <a:p>
            <a:pPr lvl="0"/>
            <a:r>
              <a:rPr b="1"/>
              <a:t>Comparaison de SBOM :</a:t>
            </a:r>
            <a:r>
              <a:rPr/>
              <a:t> script </a:t>
            </a:r>
            <a:r>
              <a:rPr>
                <a:latin typeface="Courier"/>
              </a:rPr>
              <a:t>comparer-sbom.ps1</a:t>
            </a:r>
            <a:r>
              <a:rPr/>
              <a:t> pour comparer un SBOM de référence et un SBOM actuel (ajouts, suppressions, changements de version).</a:t>
            </a:r>
          </a:p>
          <a:p>
            <a:pPr lvl="0"/>
            <a:r>
              <a:rPr b="1"/>
              <a:t>Conformité :</a:t>
            </a:r>
            <a:r>
              <a:rPr/>
              <a:t> le SBOM et les rapports Grype servent de preuve d’inventaire et de gestion des vulnérabilités (NIS2, ANSSI).</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 Conclusion</a:t>
            </a:r>
          </a:p>
          <a:p>
            <a:pPr lvl="0" indent="0" marL="0">
              <a:buNone/>
            </a:pPr>
            <a:r>
              <a:rPr/>
              <a:t>Ce projet démontre une chaîne complète : </a:t>
            </a:r>
            <a:r>
              <a:rPr b="1"/>
              <a:t>SBOM (Syft) → scan des vulnérabilités (Grype) → rapports (JSON, HTML) → CI/CD (GitHub Actions)</a:t>
            </a:r>
            <a:r>
              <a:rPr/>
              <a:t>. Il fournit une base reproductible pour la traçabilité des dépendances et la détection des CVE, utilisable en local comme en intégration continue, et exploitable pour des présentations ou des démonstrations de conformité.</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Rapport généré dans le cadre du projet Syft/Grype – Security M2.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2026-03-09T14:04:59Z</dcterms:created>
  <dcterms:modified xsi:type="dcterms:W3CDTF">2026-03-09T14:04:59Z</dcterms:modified>
</cp:coreProperties>
</file>

<file path=docProps/custom.xml><?xml version="1.0" encoding="utf-8"?>
<Properties xmlns="http://schemas.openxmlformats.org/officeDocument/2006/custom-properties" xmlns:vt="http://schemas.openxmlformats.org/officeDocument/2006/docPropsVTypes"/>
</file>